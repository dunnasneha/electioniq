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C938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Voter Turnout</c:v>
                  </c:pt>
                  <c:pt idx="1">
                    <c:v>Transparency</c:v>
                  </c:pt>
                  <c:pt idx="2">
                    <c:v>Access Score</c:v>
                  </c:pt>
                  <c:pt idx="3">
                    <c:v>Proportionality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85</c:v>
                </c:pt>
                <c:pt idx="2">
                  <c:v>78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Voter Turnout</c:v>
                  </c:pt>
                  <c:pt idx="1">
                    <c:v>Transparency</c:v>
                  </c:pt>
                  <c:pt idx="2">
                    <c:v>Access Score</c:v>
                  </c:pt>
                  <c:pt idx="3">
                    <c:v>Proportionality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</c:v>
                </c:pt>
                <c:pt idx="1">
                  <c:v>82</c:v>
                </c:pt>
                <c:pt idx="2">
                  <c:v>70</c:v>
                </c:pt>
                <c:pt idx="3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Voter Turnout</c:v>
                  </c:pt>
                  <c:pt idx="1">
                    <c:v>Transparency</c:v>
                  </c:pt>
                  <c:pt idx="2">
                    <c:v>Access Score</c:v>
                  </c:pt>
                  <c:pt idx="3">
                    <c:v>Proportionality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76</c:v>
                </c:pt>
                <c:pt idx="1">
                  <c:v>92</c:v>
                </c:pt>
                <c:pt idx="2">
                  <c:v>88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9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A363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9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F1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E999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21F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C9382A">
              <a:alpha val="1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E3A8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02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38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502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ElectIQ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Election Intelligence Platform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292608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889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E9990"/>
                </a:solidFill>
              </a:rPr>
              <a:t>An interactive web-based civic education platform covering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E9990"/>
                </a:solidFill>
              </a:rPr>
              <a:t>election timelines, quizzes, glossaries, AI chat, and comparative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E9990"/>
                </a:solidFill>
              </a:rPr>
              <a:t>analysis — built entirely in HTML, CSS &amp; JavaScript.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21F1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27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E9990"/>
                </a:solidFill>
              </a:rPr>
              <a:t>VERSION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4873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1.0.0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4727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E9990"/>
                </a:solidFill>
              </a:rPr>
              <a:t>MODULES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06040" y="4873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 Interactive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727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E9990"/>
                </a:solidFill>
              </a:rPr>
              <a:t>TECH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4873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 · CSS · JS ·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47274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E9990"/>
                </a:solidFill>
              </a:rPr>
              <a:t>YEAR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03720" y="4873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C9382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Civic Education Fails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23444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 Partisan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News media frames elections through ideological lenses, confusing rather than educating voters.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23444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393192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Too Dry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Government websites present accurate information in formats that are inaccessible to most citizens.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23444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393192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Not Interactive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Static PDFs and long-form articles fail to engage the short-attention digital generation.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3931920" cy="123444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393192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182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Single Country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Most resources focus on one country, missing the comparative context that deepens understanding.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0F766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THE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ElectIQ — One File. Everything.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990"/>
                </a:solidFill>
              </a:rPr>
              <a:t>A single HTML file containing 7 fully interactive modules that work in any modern browser with zero installation, zero accounts, and zero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920240"/>
            <a:ext cx="1645920" cy="2011680"/>
          </a:xfrm>
          <a:prstGeom prst="roundRect">
            <a:avLst>
              <a:gd name="adj" fmla="val 5556"/>
            </a:avLst>
          </a:prstGeom>
          <a:solidFill>
            <a:srgbClr val="2D2A26"/>
          </a:solidFill>
          <a:ln w="25400">
            <a:solidFill>
              <a:srgbClr val="C93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.html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~98 KB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28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📅 Timeline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🧠 Quiz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📖 Glossary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200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🌐 Compare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420624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2062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💬 AI Chat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43891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389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🌓 Dark Mode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4389120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221F1C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38912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CE5"/>
                </a:solidFill>
              </a:rPr>
              <a:t>💾 Export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B4530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FEATURE OVERVIEW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 Interactive Modules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64592" y="146304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463040"/>
            <a:ext cx="36576" cy="118872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Election Timeline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Step-by-step election process for USA, India, UK &amp; Germany with live countdown timers and expandable stage cards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0" y="146304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63040"/>
            <a:ext cx="36576" cy="1188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Knowledge Quiz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10 questions, instant feedback, score ring, confetti on perfect score, localStorage high score tracking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0288" y="146304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1463040"/>
            <a:ext cx="36576" cy="1188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72744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38928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Glossary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29 terms across 4 categories — live search with keyword highlighting, debounced, category filter chips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03136" y="146304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463040"/>
            <a:ext cx="36576" cy="1188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296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51776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Compare Systems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0296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USA vs India vs Germany — animated bar charts for turnout, transparency, access scores and CSV export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71800"/>
            <a:ext cx="3657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3081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Chat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Anthropic Claude integration with 3-retry logic, demo fallback mode, typing indicator and chat export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297180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971800"/>
            <a:ext cx="36576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40480" y="3081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Dark Mode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Full theme system with CSS variables, localStorage persistence and system preference auto-detection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606040" cy="118872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971800"/>
            <a:ext cx="36576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3081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Export &amp; Save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JSON quiz results, CSV comparison, TXT chat history, clipboard score sharing and export timestamps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C9382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MODULE 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Election Timeline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990"/>
                </a:solidFill>
              </a:rPr>
              <a:t>Interactive phase-by-phase breakdown with live countdown timers for 4 countries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691640"/>
            <a:ext cx="457200" cy="457200"/>
          </a:xfrm>
          <a:prstGeom prst="ellipse">
            <a:avLst/>
          </a:prstGeom>
          <a:solidFill>
            <a:srgbClr val="C9382A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920240"/>
            <a:ext cx="1234440" cy="0"/>
          </a:xfrm>
          <a:prstGeom prst="line">
            <a:avLst/>
          </a:prstGeom>
          <a:noFill/>
          <a:ln w="19050">
            <a:solidFill>
              <a:srgbClr val="3A36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1371600" cy="685800"/>
          </a:xfrm>
          <a:prstGeom prst="rect">
            <a:avLst/>
          </a:prstGeom>
          <a:solidFill>
            <a:srgbClr val="221F1C"/>
          </a:solidFill>
          <a:ln w="9525">
            <a:solidFill>
              <a:srgbClr val="C938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31720"/>
            <a:ext cx="1371600" cy="36576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957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📢 Announce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169164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920240"/>
            <a:ext cx="1234440" cy="0"/>
          </a:xfrm>
          <a:prstGeom prst="line">
            <a:avLst/>
          </a:prstGeom>
          <a:noFill/>
          <a:ln w="19050">
            <a:solidFill>
              <a:srgbClr val="3A36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2331720"/>
            <a:ext cx="1371600" cy="685800"/>
          </a:xfrm>
          <a:prstGeom prst="rect">
            <a:avLst/>
          </a:prstGeom>
          <a:solidFill>
            <a:srgbClr val="221F1C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331720"/>
            <a:ext cx="1371600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3957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📋 Filing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34840" y="169164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920240"/>
            <a:ext cx="1234440" cy="0"/>
          </a:xfrm>
          <a:prstGeom prst="line">
            <a:avLst/>
          </a:prstGeom>
          <a:noFill/>
          <a:ln w="19050">
            <a:solidFill>
              <a:srgbClr val="3A36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2331720"/>
            <a:ext cx="1371600" cy="685800"/>
          </a:xfrm>
          <a:prstGeom prst="rect">
            <a:avLst/>
          </a:prstGeom>
          <a:solidFill>
            <a:srgbClr val="221F1C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2331720"/>
            <a:ext cx="137160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977640" y="23957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📣 Campaign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6916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1920240"/>
            <a:ext cx="1234440" cy="0"/>
          </a:xfrm>
          <a:prstGeom prst="line">
            <a:avLst/>
          </a:prstGeom>
          <a:noFill/>
          <a:ln w="19050">
            <a:solidFill>
              <a:srgbClr val="3A363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2331720"/>
            <a:ext cx="1371600" cy="685800"/>
          </a:xfrm>
          <a:prstGeom prst="rect">
            <a:avLst/>
          </a:prstGeom>
          <a:solidFill>
            <a:srgbClr val="221F1C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2331720"/>
            <a:ext cx="137160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23957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🗳️ Voting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18120" y="16916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0920" y="2331720"/>
            <a:ext cx="1371600" cy="685800"/>
          </a:xfrm>
          <a:prstGeom prst="rect">
            <a:avLst/>
          </a:prstGeom>
          <a:solidFill>
            <a:srgbClr val="221F1C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233172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23957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📊 Results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246120"/>
            <a:ext cx="1920240" cy="123444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🇺🇸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86968" y="3337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United States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767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990"/>
                </a:solidFill>
              </a:rPr>
              <a:t>Electoral College + FPTP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1480" y="40690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382A"/>
                </a:solidFill>
              </a:rPr>
              <a:t>Next: Nov 2028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68880" y="3246120"/>
            <a:ext cx="1920240" cy="123444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035808" y="3337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60320" y="3767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990"/>
                </a:solidFill>
              </a:rPr>
              <a:t>First-Past-the-Post (Lok Sabha)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560320" y="40690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382A"/>
                </a:solidFill>
              </a:rPr>
              <a:t>Next: Apr–May 2029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17720" y="3246120"/>
            <a:ext cx="1920240" cy="123444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🇬🇧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184648" y="3337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767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990"/>
                </a:solidFill>
              </a:rPr>
              <a:t>First-Past-the-Post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40690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382A"/>
                </a:solidFill>
              </a:rPr>
              <a:t>Next: May 2029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66560" y="3246120"/>
            <a:ext cx="1920240" cy="1234440"/>
          </a:xfrm>
          <a:prstGeom prst="rect">
            <a:avLst/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🇩🇪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333488" y="33375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Germany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3767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990"/>
                </a:solidFill>
              </a:rPr>
              <a:t>Mixed-Member Proportional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58000" y="40690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382A"/>
                </a:solidFill>
              </a:rPr>
              <a:t>Next: Sep 2029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1E3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MODULE 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Knowledge Quiz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120640" cy="33375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120640" cy="54864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08760"/>
            <a:ext cx="4846320" cy="109728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08760"/>
            <a:ext cx="2423160" cy="109728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E9990"/>
                </a:solidFill>
              </a:rPr>
              <a:t>QUESTION 05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Which country uses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Electoral College?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4754880" cy="292608"/>
          </a:xfrm>
          <a:prstGeom prst="rect">
            <a:avLst/>
          </a:prstGeom>
          <a:solidFill>
            <a:srgbClr val="2D2A26"/>
          </a:solidFill>
          <a:ln w="9525">
            <a:solidFill>
              <a:srgbClr val="3A36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990"/>
                </a:solidFill>
              </a:rPr>
              <a:t>A  France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754880" cy="292608"/>
          </a:xfrm>
          <a:prstGeom prst="rect">
            <a:avLst/>
          </a:prstGeom>
          <a:solidFill>
            <a:srgbClr val="2D2A26"/>
          </a:solidFill>
          <a:ln w="9525">
            <a:solidFill>
              <a:srgbClr val="3A3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990"/>
                </a:solidFill>
              </a:rPr>
              <a:t>B  Germany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4754880" cy="292608"/>
          </a:xfrm>
          <a:prstGeom prst="rect">
            <a:avLst/>
          </a:prstGeom>
          <a:solidFill>
            <a:srgbClr val="166534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</a:rPr>
              <a:t>C  United States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3566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✅ Correct!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4754880" cy="292608"/>
          </a:xfrm>
          <a:prstGeom prst="rect">
            <a:avLst/>
          </a:prstGeom>
          <a:solidFill>
            <a:srgbClr val="2D2A26"/>
          </a:solidFill>
          <a:ln w="9525">
            <a:solidFill>
              <a:srgbClr val="3A36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990"/>
                </a:solidFill>
              </a:rPr>
              <a:t>D  Brazil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1325880"/>
            <a:ext cx="3108960" cy="33375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E9990"/>
                </a:solidFill>
              </a:rPr>
              <a:t>FINAL 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8/10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CE5"/>
                </a:solidFill>
              </a:rPr>
              <a:t>80%  —  Excellent!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Great knowledge of electoral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systems and democracy!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3703320"/>
            <a:ext cx="2560320" cy="347472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703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🏆 New Best Score!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0F766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MODULES 3 &amp; 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Glossary + Compare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📖 GLOSSARY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3931920" cy="320040"/>
          </a:xfrm>
          <a:prstGeom prst="rect">
            <a:avLst/>
          </a:prstGeom>
          <a:solidFill>
            <a:srgbClr val="2D2A26"/>
          </a:solidFill>
          <a:ln w="12700">
            <a:solidFill>
              <a:srgbClr val="3A36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🔍  Search terms, definitions...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3317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88720" y="23317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Process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65960" y="23317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Legal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23317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Voter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0440" y="2331720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2D2A26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System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724912"/>
            <a:ext cx="3931920" cy="31089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5"/>
                </a:solidFill>
              </a:rPr>
              <a:t>Gerrymandering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277977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1E3A8A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77977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ECE5"/>
                </a:solidFill>
              </a:rPr>
              <a:t>legal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11480" y="3090672"/>
            <a:ext cx="3931920" cy="31089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06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5"/>
                </a:solidFill>
              </a:rPr>
              <a:t>Proportional Representation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14553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0F766E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4553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ECE5"/>
                </a:solidFill>
              </a:rPr>
              <a:t>system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11480" y="3456432"/>
            <a:ext cx="3931920" cy="31089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564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5"/>
                </a:solidFill>
              </a:rPr>
              <a:t>Electoral College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51129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35112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ECE5"/>
                </a:solidFill>
              </a:rPr>
              <a:t>system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11480" y="3822192"/>
            <a:ext cx="3931920" cy="31089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2219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5"/>
                </a:solidFill>
              </a:rPr>
              <a:t>Voter Turnout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91840" y="387705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B45309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8770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ECE5"/>
                </a:solidFill>
              </a:rPr>
              <a:t>voter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11480" y="4187952"/>
            <a:ext cx="3931920" cy="31089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18795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CE5"/>
                </a:solidFill>
              </a:rPr>
              <a:t>First-Past-The-Post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24281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424281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ECE5"/>
                </a:solidFill>
              </a:rPr>
              <a:t>system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754880" y="1325880"/>
            <a:ext cx="411480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🌐 COMPARE SYSTEMS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1901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🇺🇸 USA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1901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🇮🇳 India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43216" y="19019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🇩🇪 Germany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92040" y="22402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Voter Turnout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937760" y="24688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47" name="Shape 45"/>
          <p:cNvSpPr/>
          <p:nvPr/>
        </p:nvSpPr>
        <p:spPr>
          <a:xfrm>
            <a:off x="4937760" y="2468880"/>
            <a:ext cx="784555" cy="1828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468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66%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90488" y="24688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50" name="Shape 48"/>
          <p:cNvSpPr/>
          <p:nvPr/>
        </p:nvSpPr>
        <p:spPr>
          <a:xfrm>
            <a:off x="6190488" y="2468880"/>
            <a:ext cx="796442" cy="182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1" name="Text 49"/>
          <p:cNvSpPr/>
          <p:nvPr/>
        </p:nvSpPr>
        <p:spPr>
          <a:xfrm>
            <a:off x="6190488" y="2468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67%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443216" y="24688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53" name="Shape 51"/>
          <p:cNvSpPr/>
          <p:nvPr/>
        </p:nvSpPr>
        <p:spPr>
          <a:xfrm>
            <a:off x="7443216" y="2468880"/>
            <a:ext cx="903427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7443216" y="24688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76%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892040" y="2926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Transparency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37760" y="31546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57" name="Shape 55"/>
          <p:cNvSpPr/>
          <p:nvPr/>
        </p:nvSpPr>
        <p:spPr>
          <a:xfrm>
            <a:off x="4937760" y="3154680"/>
            <a:ext cx="1010412" cy="1828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31546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85%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90488" y="31546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60" name="Shape 58"/>
          <p:cNvSpPr/>
          <p:nvPr/>
        </p:nvSpPr>
        <p:spPr>
          <a:xfrm>
            <a:off x="6190488" y="3154680"/>
            <a:ext cx="974750" cy="182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1" name="Text 59"/>
          <p:cNvSpPr/>
          <p:nvPr/>
        </p:nvSpPr>
        <p:spPr>
          <a:xfrm>
            <a:off x="6190488" y="31546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82%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443216" y="31546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63" name="Shape 61"/>
          <p:cNvSpPr/>
          <p:nvPr/>
        </p:nvSpPr>
        <p:spPr>
          <a:xfrm>
            <a:off x="7443216" y="3154680"/>
            <a:ext cx="1093622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4" name="Text 62"/>
          <p:cNvSpPr/>
          <p:nvPr/>
        </p:nvSpPr>
        <p:spPr>
          <a:xfrm>
            <a:off x="7443216" y="31546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92%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892040" y="36118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Access Score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0" y="38404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67" name="Shape 65"/>
          <p:cNvSpPr/>
          <p:nvPr/>
        </p:nvSpPr>
        <p:spPr>
          <a:xfrm>
            <a:off x="4937760" y="3840480"/>
            <a:ext cx="927202" cy="1828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68" name="Text 66"/>
          <p:cNvSpPr/>
          <p:nvPr/>
        </p:nvSpPr>
        <p:spPr>
          <a:xfrm>
            <a:off x="4937760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78%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90488" y="38404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70" name="Shape 68"/>
          <p:cNvSpPr/>
          <p:nvPr/>
        </p:nvSpPr>
        <p:spPr>
          <a:xfrm>
            <a:off x="6190488" y="3840480"/>
            <a:ext cx="832104" cy="182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1" name="Text 69"/>
          <p:cNvSpPr/>
          <p:nvPr/>
        </p:nvSpPr>
        <p:spPr>
          <a:xfrm>
            <a:off x="6190488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70%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43216" y="38404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73" name="Shape 71"/>
          <p:cNvSpPr/>
          <p:nvPr/>
        </p:nvSpPr>
        <p:spPr>
          <a:xfrm>
            <a:off x="7443216" y="3840480"/>
            <a:ext cx="1046074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4" name="Text 72"/>
          <p:cNvSpPr/>
          <p:nvPr/>
        </p:nvSpPr>
        <p:spPr>
          <a:xfrm>
            <a:off x="7443216" y="38404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88%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892040" y="42976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Proportionality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937760" y="45262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77" name="Shape 75"/>
          <p:cNvSpPr/>
          <p:nvPr/>
        </p:nvSpPr>
        <p:spPr>
          <a:xfrm>
            <a:off x="4937760" y="4526280"/>
            <a:ext cx="534924" cy="1828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78" name="Text 76"/>
          <p:cNvSpPr/>
          <p:nvPr/>
        </p:nvSpPr>
        <p:spPr>
          <a:xfrm>
            <a:off x="4937760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45%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190488" y="45262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80" name="Shape 78"/>
          <p:cNvSpPr/>
          <p:nvPr/>
        </p:nvSpPr>
        <p:spPr>
          <a:xfrm>
            <a:off x="6190488" y="4526280"/>
            <a:ext cx="499262" cy="1828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1" name="Text 79"/>
          <p:cNvSpPr/>
          <p:nvPr/>
        </p:nvSpPr>
        <p:spPr>
          <a:xfrm>
            <a:off x="6190488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42%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443216" y="4526280"/>
            <a:ext cx="1188720" cy="182880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83" name="Shape 81"/>
          <p:cNvSpPr/>
          <p:nvPr/>
        </p:nvSpPr>
        <p:spPr>
          <a:xfrm>
            <a:off x="7443216" y="4526280"/>
            <a:ext cx="1057961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4" name="Text 82"/>
          <p:cNvSpPr/>
          <p:nvPr/>
        </p:nvSpPr>
        <p:spPr>
          <a:xfrm>
            <a:off x="7443216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89%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7C3AED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MODULE 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Election Chat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57784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5577840" cy="438912"/>
          </a:xfrm>
          <a:prstGeom prst="rect">
            <a:avLst/>
          </a:prstGeom>
          <a:solidFill>
            <a:srgbClr val="2D2A26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417320"/>
            <a:ext cx="292608" cy="292608"/>
          </a:xfrm>
          <a:prstGeom prst="ellipse">
            <a:avLst/>
          </a:prstGeom>
          <a:solidFill>
            <a:srgbClr val="C938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35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ElectIQ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636776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</a:rPr>
              <a:t>● Online — Ready to help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4114800" cy="795528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920240"/>
            <a:ext cx="3895344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CE5"/>
                </a:solidFill>
              </a:rPr>
              <a:t>Hello! I'm ElectIQ AI. I can explain electoral systems, voter rights, and democratic processes. What would you like to know?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54480" y="2761488"/>
            <a:ext cx="4114800" cy="621792"/>
          </a:xfrm>
          <a:prstGeom prst="rect">
            <a:avLst/>
          </a:prstGeom>
          <a:solidFill>
            <a:srgbClr val="1E3A8A"/>
          </a:solidFill>
          <a:ln w="3810">
            <a:solidFill>
              <a:srgbClr val="2D4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2807208"/>
            <a:ext cx="3895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CE5"/>
                </a:solidFill>
              </a:rPr>
              <a:t>What is the difference between FPTP and Proportional Representation?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474720"/>
            <a:ext cx="4114800" cy="1316736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520440"/>
            <a:ext cx="3895344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CE5"/>
                </a:solidFill>
              </a:rPr>
              <a:t>Great question! FPTP (First-Past-the-Post): The candidate with the most votes wins, even without a majority. Used in USA, UK, India. PR (Proportional Representation): Seats are allocated based on vote share. More representative but can lead to coalition governments. Used in Germany, Netherlands.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325880"/>
            <a:ext cx="283464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9385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193852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Claude Sonnet 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21031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Anthropic's latest model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3-Retry Logic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37960" y="249631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Resilient API calls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27249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7249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Demo Fallback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288950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Works without API key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31181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1181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Full History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328269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Contextual conversation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35112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35112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Char Counter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367588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2000 char limit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39044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390448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Save Chat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406908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Export as .txt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4297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🧹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3796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</a:rPr>
              <a:t>Clear Chat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446227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Reset conversation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B4530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TECHNICAL STACK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Architecture &amp; Technology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389120" cy="3383280"/>
          </a:xfrm>
          <a:prstGeom prst="rect">
            <a:avLst/>
          </a:prstGeom>
          <a:solidFill>
            <a:srgbClr val="221F1C"/>
          </a:solidFill>
          <a:ln w="19050">
            <a:solidFill>
              <a:srgbClr val="C938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4389120" cy="384048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533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ElectIQ.html — Single File Architecture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438912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65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&lt;head&gt;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029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Google Fonts · Font Awesome · CSS Variables · Animations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359152"/>
            <a:ext cx="4023360" cy="438912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59152"/>
            <a:ext cx="54864" cy="43891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95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CSS (~700 lines)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Custom Properties · Grid · Flexbox · Transitions · Dark Mode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4023360" cy="438912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9504"/>
            <a:ext cx="54864" cy="43891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HTML Structure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0906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5 Sections · Nav · Footer · ARIA Labels · Semantic Tags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4023360" cy="438912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9856"/>
            <a:ext cx="54864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56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JavaScript (~900 lines)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36210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State Management · Data · Event Handlers · API Calls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4023360" cy="438912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0208"/>
            <a:ext cx="54864" cy="438912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867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CE5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Anthropic API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4151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claude-sonnet-4 · /v1/messages · 3-Retry · Mock Fallback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37760" y="1371600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~98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937760" y="181051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KB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19842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Total File Size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03720" y="1371600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14630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1,600+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03720" y="181051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lines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19842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Lines of Code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2542032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937760" y="29809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deps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31546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npm Dependencies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03720" y="2542032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263347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903720" y="29809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modules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31546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Interactive Features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37760" y="3712464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3803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937760" y="415137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countries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43251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Election Timelines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03720" y="3712464"/>
            <a:ext cx="1783080" cy="914400"/>
          </a:xfrm>
          <a:prstGeom prst="rect">
            <a:avLst/>
          </a:prstGeom>
          <a:solidFill>
            <a:srgbClr val="2D2A26"/>
          </a:solidFill>
          <a:ln w="3810">
            <a:solidFill>
              <a:srgbClr val="3A36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8039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382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903720" y="415137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</a:rPr>
              <a:t>terms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03720" y="43251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990"/>
                </a:solidFill>
              </a:rPr>
              <a:t>Glossary Entries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0F766E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DATA VISUALIZATION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Electoral Systems — Data Comparison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25880"/>
          <a:ext cx="8595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05966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BONUS MODULES 6 &amp; 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Dark Mode + Export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🌓 Dark Mode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CSS Custom Properties — 15 variables control entire palette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0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0.28s cubic-bezier transitions on all color changes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340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localStorage persistence (key: electiq_theme)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18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Auto-detects prefers-color-scheme on first visit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02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Animated toggle switch in navbar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Applies to ALL 7 modules uniformly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0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WCAG AA contrast ratios in both modes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💾 Export &amp; Save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1965960"/>
            <a:ext cx="3840480" cy="621792"/>
          </a:xfrm>
          <a:prstGeom prst="rect">
            <a:avLst/>
          </a:prstGeom>
          <a:solidFill>
            <a:srgbClr val="2D2A26"/>
          </a:solidFill>
          <a:ln w="6350">
            <a:solidFill>
              <a:srgbClr val="C93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299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20299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231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Quiz results — all Q&amp;A, score, date, correctness per question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2715768"/>
            <a:ext cx="3840480" cy="621792"/>
          </a:xfrm>
          <a:prstGeom prst="rect">
            <a:avLst/>
          </a:prstGeom>
          <a:solidFill>
            <a:srgbClr val="2D2A26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797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27797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Clipboard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2980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Share score message — copy to clipboard for social sharing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3465576"/>
            <a:ext cx="3840480" cy="621792"/>
          </a:xfrm>
          <a:prstGeom prst="rect">
            <a:avLst/>
          </a:prstGeom>
          <a:solidFill>
            <a:srgbClr val="2D2A26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5295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529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CSV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730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Comparison data — all metrics for 3 countries in spreadsheet format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4215384"/>
            <a:ext cx="3840480" cy="621792"/>
          </a:xfrm>
          <a:prstGeom prst="rect">
            <a:avLst/>
          </a:prstGeom>
          <a:solidFill>
            <a:srgbClr val="2D2A26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42793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03520" y="4279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Chat history — full conversation with role labels and timestamp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1E3A8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QUALITY &amp; STANDARDS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Accessibility &amp; Responsiveness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♿ WCAG 2.1 AA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ARIA labels on all interactive elements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Keyboard navigation (Tab, Enter, Escape)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4261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426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Screen reader announcements for quiz feedback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9809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Visible focus indicators on all controls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1927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3192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Color contrast ratios ≥ 4.5:1 in both themes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Logical tab order follows visual layout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9959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9959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Alt text patterns for decorative elements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33425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Hamburger menu fully keyboard-accessible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📱 Responsive Breakpoints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965960"/>
            <a:ext cx="3840480" cy="868680"/>
          </a:xfrm>
          <a:prstGeom prst="rect">
            <a:avLst/>
          </a:prstGeom>
          <a:solidFill>
            <a:srgbClr val="2D2A2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965960"/>
            <a:ext cx="54864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029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Desktop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2286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</a:rPr>
              <a:t>1200px+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4-col grids, full sidebar nav, side-by-side compare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971800"/>
            <a:ext cx="3840480" cy="868680"/>
          </a:xfrm>
          <a:prstGeom prst="rect">
            <a:avLst/>
          </a:prstGeom>
          <a:solidFill>
            <a:srgbClr val="2D2A2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971800"/>
            <a:ext cx="54864" cy="868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Tablet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3291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</a:rPr>
              <a:t>768–1199px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2-col grids, full nav visible, 2-col compare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3977640"/>
            <a:ext cx="3840480" cy="868680"/>
          </a:xfrm>
          <a:prstGeom prst="rect">
            <a:avLst/>
          </a:prstGeom>
          <a:solidFill>
            <a:srgbClr val="2D2A26"/>
          </a:solidFill>
          <a:ln w="12700">
            <a:solidFill>
              <a:srgbClr val="C938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977640"/>
            <a:ext cx="54864" cy="8686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041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Mobile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83480" y="4297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382A"/>
                </a:solidFill>
              </a:rPr>
              <a:t>&lt; 768px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9990"/>
                </a:solidFill>
              </a:rPr>
              <a:t>1-col stacked, hamburger menu, touch-friendly targets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463040" cy="246888"/>
          </a:xfrm>
          <a:prstGeom prst="roundRect">
            <a:avLst>
              <a:gd name="adj" fmla="val 14815"/>
            </a:avLst>
          </a:prstGeom>
          <a:solidFill>
            <a:srgbClr val="B4530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DEPLOYMENT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Setup in 3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990"/>
                </a:solidFill>
              </a:rPr>
              <a:t>Zero build steps. Zero dependencies. Open in any browser.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97480" cy="26517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38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Save the 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Download ElectIQ.html to your computer. It's fully self-contained — all CSS, JS, and data included in one file.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3063240"/>
            <a:ext cx="210312" cy="0"/>
          </a:xfrm>
          <a:prstGeom prst="line">
            <a:avLst/>
          </a:prstGeom>
          <a:noFill/>
          <a:ln w="25400">
            <a:solidFill>
              <a:srgbClr val="C938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1737360"/>
            <a:ext cx="2697480" cy="26517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382A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96512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10712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in Browser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0712" y="28803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Double-click or drag into Chrome, Firefox, Safari, or Edge. No server, no install, no account required.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71032" y="3063240"/>
            <a:ext cx="210312" cy="0"/>
          </a:xfrm>
          <a:prstGeom prst="line">
            <a:avLst/>
          </a:prstGeom>
          <a:noFill/>
          <a:ln w="25400">
            <a:solidFill>
              <a:srgbClr val="C938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1737360"/>
            <a:ext cx="2697480" cy="26517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382A"/>
          </a:solidFill>
          <a:ln/>
        </p:spPr>
      </p:sp>
      <p:sp>
        <p:nvSpPr>
          <p:cNvPr id="23" name="Text 21"/>
          <p:cNvSpPr/>
          <p:nvPr/>
        </p:nvSpPr>
        <p:spPr>
          <a:xfrm>
            <a:off x="636422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04304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18504" y="24871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Add API Key (Optional)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28803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990"/>
                </a:solidFill>
              </a:rPr>
              <a:t>To enable live AI Chat, paste your Anthropic API key into the ANTHROPIC_API_KEY constant at the top of the script block.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990"/>
                </a:solidFill>
              </a:rPr>
              <a:t>Static Hosting Options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ElectIQ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C7"/>
                </a:solidFill>
              </a:rPr>
              <a:t>Election Intelligence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Empowering Citizens Through Knowledge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990"/>
                </a:solidFill>
              </a:rPr>
              <a:t>Built with ♥ for Democracy — One file. Seven modules. Zero barriers.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1554480" cy="5943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 Modules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84832" y="2834640"/>
            <a:ext cx="1554480" cy="5943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 Countries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03904" y="2834640"/>
            <a:ext cx="1554480" cy="5943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29 Terms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22976" y="2834640"/>
            <a:ext cx="1554480" cy="5943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 Quiz Qs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42048" y="2834640"/>
            <a:ext cx="1554480" cy="594360"/>
          </a:xfrm>
          <a:prstGeom prst="rect">
            <a:avLst/>
          </a:prstGeom>
          <a:solidFill>
            <a:srgbClr val="221F1C"/>
          </a:solidFill>
          <a:ln w="6350">
            <a:solidFill>
              <a:srgbClr val="3A36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283464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98 KB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HTML5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37033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CSS3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7033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JavaScript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7033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Anthropic Claude 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14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WCAG 2.1 AA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41148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4114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Responsive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41148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14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localStorage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41148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2D2A26"/>
          </a:solidFill>
          <a:ln w="5080">
            <a:solidFill>
              <a:srgbClr val="3A36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114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990"/>
                </a:solidFill>
              </a:rPr>
              <a:t>Zero Dependencies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382A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ElectIQ — Election Intelligence Platform</dc:title>
  <dc:subject>Project Submission Presentation</dc:subject>
  <dc:creator>ElectIQ Team</dc:creator>
  <cp:lastModifiedBy>ElectIQ Team</cp:lastModifiedBy>
  <cp:revision>1</cp:revision>
  <dcterms:created xsi:type="dcterms:W3CDTF">2026-04-24T11:52:33Z</dcterms:created>
  <dcterms:modified xsi:type="dcterms:W3CDTF">2026-04-24T11:52:33Z</dcterms:modified>
</cp:coreProperties>
</file>